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502920"/>
            <a:ext cx="1828800" cy="1828800"/>
          </a:xfrm>
          <a:prstGeom prst="ellipse">
            <a:avLst/>
          </a:prstGeom>
          <a:solidFill>
            <a:srgbClr val="3E4CC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2148840"/>
            <a:ext cx="1097280" cy="1097280"/>
          </a:xfrm>
          <a:prstGeom prst="ellipse">
            <a:avLst/>
          </a:prstGeom>
          <a:solidFill>
            <a:srgbClr val="6A78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75720" y="182880"/>
            <a:ext cx="777240" cy="777240"/>
          </a:xfrm>
          <a:prstGeom prst="ellipse">
            <a:avLst/>
          </a:prstGeom>
          <a:solidFill>
            <a:srgbClr val="CADCFC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VITALCV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Healthcare Hiring</a:t>
            </a:r>
            <a:endParaRPr lang="en-US" sz="52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Throughput Engine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85800" y="37947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800" dirty="0">
                <a:solidFill>
                  <a:srgbClr val="AE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Career Evidence Network — cryptographic trust infrastructure engineered to collapse Interview-to-Start Velocity from months to days.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85800" y="5074920"/>
            <a:ext cx="1728216" cy="420624"/>
          </a:xfrm>
          <a:prstGeom prst="roundRect">
            <a:avLst>
              <a:gd name="adj" fmla="val 50000"/>
            </a:avLst>
          </a:prstGeom>
          <a:solidFill>
            <a:srgbClr val="20284F"/>
          </a:solidFill>
          <a:ln w="12700">
            <a:solidFill>
              <a:srgbClr val="6A7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074920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CV Wallet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15184" y="5074920"/>
            <a:ext cx="1824228" cy="420624"/>
          </a:xfrm>
          <a:prstGeom prst="roundRect">
            <a:avLst>
              <a:gd name="adj" fmla="val 50000"/>
            </a:avLst>
          </a:prstGeom>
          <a:solidFill>
            <a:srgbClr val="20284F"/>
          </a:solidFill>
          <a:ln w="12700">
            <a:solidFill>
              <a:srgbClr val="6A7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5184" y="5074920"/>
            <a:ext cx="18242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AI Match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40580" y="5074920"/>
            <a:ext cx="1728216" cy="420624"/>
          </a:xfrm>
          <a:prstGeom prst="roundRect">
            <a:avLst>
              <a:gd name="adj" fmla="val 50000"/>
            </a:avLst>
          </a:prstGeom>
          <a:solidFill>
            <a:srgbClr val="20284F"/>
          </a:solidFill>
          <a:ln w="12700">
            <a:solidFill>
              <a:srgbClr val="6A7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0580" y="5074920"/>
            <a:ext cx="17282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with VCV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569964" y="5074920"/>
            <a:ext cx="1536192" cy="420624"/>
          </a:xfrm>
          <a:prstGeom prst="roundRect">
            <a:avLst>
              <a:gd name="adj" fmla="val 50000"/>
            </a:avLst>
          </a:prstGeom>
          <a:solidFill>
            <a:srgbClr val="20284F"/>
          </a:solidFill>
          <a:ln w="12700">
            <a:solidFill>
              <a:srgbClr val="6A7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69964" y="5074920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 faster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07324" y="5074920"/>
            <a:ext cx="2016252" cy="420624"/>
          </a:xfrm>
          <a:prstGeom prst="roundRect">
            <a:avLst>
              <a:gd name="adj" fmla="val 50000"/>
            </a:avLst>
          </a:prstGeom>
          <a:solidFill>
            <a:srgbClr val="3E4CC0"/>
          </a:solidFill>
          <a:ln w="12700">
            <a:solidFill>
              <a:srgbClr val="6A7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7324" y="5074920"/>
            <a:ext cx="20162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· compounds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Christopher Toler  ·  Founder, VitalCV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INSIGHT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bottleneck is not finding clinicians.</a:t>
            </a:r>
            <a:endParaRPr lang="en-US" sz="2900" dirty="0"/>
          </a:p>
          <a:p>
            <a:pPr indent="0" marL="0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making them startable.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recruitment creates interest faster than healthcare systems can convert it into safe, billable capacity. Recruitment without readiness is pipeline theater; readiness without recruitment is unused trust. VitalCV fuses both.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602736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3200400"/>
            <a:ext cx="603504" cy="603504"/>
          </a:xfrm>
          <a:prstGeom prst="ellipse">
            <a:avLst/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3328416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1248" y="39502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recruiters optimize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41248" y="45720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Sources, opens, applies, interviews, pipeline volume — all upstream of the real wall.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89120" y="2880360"/>
            <a:ext cx="3602736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81728" y="3200400"/>
            <a:ext cx="603504" cy="603504"/>
          </a:xfrm>
          <a:prstGeom prst="ellipse">
            <a:avLst/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3328416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81728" y="39502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system stalls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681728" y="45720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checks, licensure posture, exclusions, proof artifacts, committee review.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229600" y="2880360"/>
            <a:ext cx="3602736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22208" y="3200400"/>
            <a:ext cx="603504" cy="603504"/>
          </a:xfrm>
          <a:prstGeom prst="ellipse">
            <a:avLst/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332841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22208" y="3950208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VitalCV changes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8522208" y="45720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 carries a reusable, source-backed trust state before the employer spends a cycle.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hiring has a trust-liquidity problem.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employer re-asks, re-checks, and re-builds evidence that should travel with the clinician.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60273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9572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90–120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841248" y="3310128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from interview to start in slow verification queues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2240280"/>
            <a:ext cx="360273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239572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08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5+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4681728" y="3310128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 touched before a clinician can legally work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0" y="2240280"/>
            <a:ext cx="360273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503920" y="239572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200" dirty="0"/>
          </a:p>
        </p:txBody>
      </p:sp>
      <p:sp>
        <p:nvSpPr>
          <p:cNvPr id="13" name="Text 11"/>
          <p:cNvSpPr/>
          <p:nvPr/>
        </p:nvSpPr>
        <p:spPr>
          <a:xfrm>
            <a:off x="8522208" y="3310128"/>
            <a:ext cx="3035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proof carried by the clinician across employers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CLINICIAN'S PATH TODAY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645152"/>
            <a:ext cx="2505456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645152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35808" y="464515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328416" y="4645152"/>
            <a:ext cx="2505456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3328416" y="4645152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again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15584" y="464515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108192" y="4645152"/>
            <a:ext cx="2505456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108192" y="4645152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/ review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95360" y="4645152"/>
            <a:ext cx="274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8887968" y="4645152"/>
            <a:ext cx="2505456" cy="566928"/>
          </a:xfrm>
          <a:prstGeom prst="roundRect">
            <a:avLst>
              <a:gd name="adj" fmla="val 16129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887968" y="4645152"/>
            <a:ext cx="2505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to start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532120"/>
            <a:ext cx="11091672" cy="841248"/>
          </a:xfrm>
          <a:prstGeom prst="roundRect">
            <a:avLst>
              <a:gd name="adj" fmla="val 9783"/>
            </a:avLst>
          </a:prstGeom>
          <a:solidFill>
            <a:srgbClr val="E9EDFB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5733288"/>
            <a:ext cx="438912" cy="43891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463040" y="5532120"/>
            <a:ext cx="9966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VitalCV reframes the metric. 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 star is not “time-to-fill.” It is </a:t>
            </a:r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3E4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Interview-to-Start Velocity (ISV)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days between a yes and a billable start.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METRIC THAT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Interview-to-Start Velocity (ISV).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845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 ·  90–120 DAYS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D9DCE6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1828800"/>
            <a:ext cx="82296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5054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PSV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35040" y="1828800"/>
            <a:ext cx="82296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25054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 Review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966960" y="1828800"/>
            <a:ext cx="82296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961120" y="250545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Silos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VITALCV  ·  &lt; 10 DAYS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3E4CC0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3520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Pre-verified state · continuous monitoring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3602736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4553712"/>
            <a:ext cx="402336" cy="40233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371600" y="4553712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Bottleneck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41248" y="5120640"/>
            <a:ext cx="3035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 is not sourcing talent — it is the 90–120 day verification queue stalling care and burning capacity.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389120" y="4297680"/>
            <a:ext cx="3602736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4553712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12080" y="4553712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4681728" y="5120640"/>
            <a:ext cx="3035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VitalCV converts raw credentials into pre-verified, source-backed trust, moving control to a continuously monitored edge state.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8229600" y="4297680"/>
            <a:ext cx="3602736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4553712"/>
            <a:ext cx="402336" cy="40233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052560" y="4553712"/>
            <a:ext cx="2596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North Star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522208" y="5120640"/>
            <a:ext cx="303580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Readiness Score (CRS): a deterministic 0–100 metric that moves clinicians toward an Instant-Clear state.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THROUGHPUT 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starts create clinicians — without new supply.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shortage is a real supply gap. The rest is self-inflicted: a clinician who is already hired but stuck in credentialing is missing from the active workforce — phantom scarcity the system manufactures itself.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166360" cy="219456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4323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LITTLE'S LAW  ·  QUEUEING THEORY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41248" y="267004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 =  λ  ×  W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41248" y="34564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 </a:t>
            </a:r>
            <a:pPr indent="0" marL="0">
              <a:buNone/>
            </a:pPr>
            <a:r>
              <a:rPr lang="en-US" sz="1250" dirty="0">
                <a:solidFill>
                  <a:srgbClr val="DC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idle in the pipeline at any moment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3749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 </a:t>
            </a:r>
            <a:pPr indent="0" marL="0">
              <a:buNone/>
            </a:pPr>
            <a:r>
              <a:rPr lang="en-US" sz="1250" dirty="0">
                <a:solidFill>
                  <a:srgbClr val="DC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rate     </a:t>
            </a:r>
            <a:pPr indent="0" marL="0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 </a:t>
            </a:r>
            <a:pPr indent="0" marL="0">
              <a:buNone/>
            </a:pPr>
            <a:r>
              <a:rPr lang="en-US" sz="1250" dirty="0">
                <a:solidFill>
                  <a:srgbClr val="DC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time-to-start (ISV)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4041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W by 10× and L collapses 10× — for the same λ.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897880" y="2240280"/>
            <a:ext cx="5742432" cy="2194560"/>
          </a:xfrm>
          <a:prstGeom prst="roundRect">
            <a:avLst>
              <a:gd name="adj" fmla="val 3750"/>
            </a:avLst>
          </a:prstGeom>
          <a:solidFill>
            <a:srgbClr val="EEF1FC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44768" y="241401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EXAMPLE · ONE HEALTH SYSTEM HIRING 1,000 CLINICIANS / YEAR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44768" y="27432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44768" y="28163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845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274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144768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at W = 100 days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458200" y="274320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9144000" y="27432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0" y="28163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144000" y="33101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at W &lt; 10 days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144768" y="3822192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4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247 clinician-equivalents </a:t>
            </a:r>
            <a:pPr algn="ctr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into active care — no new hires.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617720"/>
            <a:ext cx="360273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846320"/>
            <a:ext cx="512064" cy="512064"/>
          </a:xfrm>
          <a:prstGeom prst="ellipse">
            <a:avLst/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4956048"/>
            <a:ext cx="292608" cy="29260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63040" y="4846320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 idle pipeline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822960" y="5440680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already hired but waiting rejoin the billable workforce the moment readiness is portable.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89120" y="4617720"/>
            <a:ext cx="360273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663440" y="4846320"/>
            <a:ext cx="512064" cy="512064"/>
          </a:xfrm>
          <a:prstGeom prst="ellipse">
            <a:avLst/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4956048"/>
            <a:ext cx="292608" cy="29260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303520" y="4846320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reneges</a:t>
            </a:r>
            <a:endParaRPr lang="en-US" sz="1450" dirty="0"/>
          </a:p>
        </p:txBody>
      </p:sp>
      <p:sp>
        <p:nvSpPr>
          <p:cNvPr id="30" name="Text 26"/>
          <p:cNvSpPr/>
          <p:nvPr/>
        </p:nvSpPr>
        <p:spPr>
          <a:xfrm>
            <a:off x="4663440" y="5440680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credentialing makes candidates drop out. Faster starts convert more of the same funnel into hires.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8229600" y="4617720"/>
            <a:ext cx="3602736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503920" y="4846320"/>
            <a:ext cx="512064" cy="512064"/>
          </a:xfrm>
          <a:prstGeom prst="ellipse">
            <a:avLst/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4956048"/>
            <a:ext cx="292608" cy="292608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9144000" y="4846320"/>
            <a:ext cx="25054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reviewer throughput</a:t>
            </a:r>
            <a:endParaRPr lang="en-US" sz="1450" dirty="0"/>
          </a:p>
        </p:txBody>
      </p:sp>
      <p:sp>
        <p:nvSpPr>
          <p:cNvPr id="35" name="Text 30"/>
          <p:cNvSpPr/>
          <p:nvPr/>
        </p:nvSpPr>
        <p:spPr>
          <a:xfrm>
            <a:off x="8503920" y="5440680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reviewer-minutes per file lets the same credentialing team process more clinicians per quarter — λ itself rises.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BILLION-DOLLAR BRIDGE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hiring → recovered capacity → real dollars.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recovered vacancy-day is revenue a clinician could have generated. The credentialing queue is the controllable slice of a multi-billion-dollar drag.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602736" cy="2697480"/>
          </a:xfrm>
          <a:prstGeom prst="roundRect">
            <a:avLst>
              <a:gd name="adj" fmla="val 3051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33172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HIRE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E4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~$720K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41248" y="358444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recovered per physician hire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4069080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~$8,000 lost revenue per vacancy day × ~90 days of start-time recovered (100 → &lt;10).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602736" cy="2697480"/>
          </a:xfrm>
          <a:prstGeom prst="roundRect">
            <a:avLst>
              <a:gd name="adj" fmla="val 3051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233172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65176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~$144M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4681728" y="358444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recovered per year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81728" y="4069080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DC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filling 200 physician roles a year, at ~$720K of recovered capacity each.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2103120"/>
            <a:ext cx="3602736" cy="2697480"/>
          </a:xfrm>
          <a:prstGeom prst="roundRect">
            <a:avLst>
              <a:gd name="adj" fmla="val 3051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03920" y="2331720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INDUSTRY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03920" y="2651760"/>
            <a:ext cx="3054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E4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Billions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8522208" y="3584448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standing capacity drag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22208" y="4069080"/>
            <a:ext cx="30358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physician generates $2.4M/yr; avg vacancy runs 195 days. RN churn alone costs the typical hospital $5.2M/yr.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1E2761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285232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508760" y="5029200"/>
            <a:ext cx="9921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claim. 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VitalCV does not mint new clinicians, and the real supply gap (13,500–86,000 physicians by 2036) is real. What VitalCV eliminates is the </a:t>
            </a:r>
            <a:pPr indent="0" marL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self-inflicted slice of the shortage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verification queue that keeps hired clinicians from working.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48640" y="6144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90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model. Anchors: CompHealth ($7–9K/vacancy day), AMN/Merritt Hawkins ($2.4M/physician/yr, 195-day avg vacancy), NSI/Becker's ($5.2M/yr RN churn), AAMC 2024 shortage projection.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trust-native clinician recruitment platform — built as a loop, not a form.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clinician wallet creates supply. MATCHA AI creates matching. Source-backed proof creates employer conversion.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103120" cy="23317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4688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257860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6384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CV Wallet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86384" y="370332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owns profile, documents, NPI identity, and live readiness signals.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15184" y="2194560"/>
            <a:ext cx="274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715768" y="2194560"/>
            <a:ext cx="2103120" cy="23317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971800" y="24688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1"/>
          <p:cNvSpPr/>
          <p:nvPr/>
        </p:nvSpPr>
        <p:spPr>
          <a:xfrm>
            <a:off x="297180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257860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953512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MATCHA AI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2953512" y="370332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intent + specialty + geography + hard requirements to real roles.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782312" y="2194560"/>
            <a:ext cx="274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5"/>
          <p:cNvSpPr/>
          <p:nvPr/>
        </p:nvSpPr>
        <p:spPr>
          <a:xfrm>
            <a:off x="4882896" y="2194560"/>
            <a:ext cx="2103120" cy="23317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138928" y="24688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7"/>
          <p:cNvSpPr/>
          <p:nvPr/>
        </p:nvSpPr>
        <p:spPr>
          <a:xfrm>
            <a:off x="5138928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578608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120640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with VCV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5120640" y="370332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sends a source-backed proof pack — not just another résumé.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949440" y="2194560"/>
            <a:ext cx="274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7050024" y="2194560"/>
            <a:ext cx="2103120" cy="23317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06056" y="24688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3"/>
          <p:cNvSpPr/>
          <p:nvPr/>
        </p:nvSpPr>
        <p:spPr>
          <a:xfrm>
            <a:off x="7306056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578608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287768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Hired Faster</a:t>
            </a:r>
            <a:endParaRPr lang="en-US" sz="1550" dirty="0"/>
          </a:p>
        </p:txBody>
      </p:sp>
      <p:sp>
        <p:nvSpPr>
          <p:cNvPr id="31" name="Text 25"/>
          <p:cNvSpPr/>
          <p:nvPr/>
        </p:nvSpPr>
        <p:spPr>
          <a:xfrm>
            <a:off x="7287768" y="370332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sees readiness state and source receipts before wasting cycles.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9116568" y="2194560"/>
            <a:ext cx="2743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Shape 27"/>
          <p:cNvSpPr/>
          <p:nvPr/>
        </p:nvSpPr>
        <p:spPr>
          <a:xfrm>
            <a:off x="9217152" y="2194560"/>
            <a:ext cx="2103120" cy="23317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9473184" y="246888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29"/>
          <p:cNvSpPr/>
          <p:nvPr/>
        </p:nvSpPr>
        <p:spPr>
          <a:xfrm>
            <a:off x="9473184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2578608"/>
            <a:ext cx="365760" cy="36576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454896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Wallet</a:t>
            </a:r>
            <a:endParaRPr lang="en-US" sz="1550" dirty="0"/>
          </a:p>
        </p:txBody>
      </p:sp>
      <p:sp>
        <p:nvSpPr>
          <p:cNvPr id="38" name="Text 31"/>
          <p:cNvSpPr/>
          <p:nvPr/>
        </p:nvSpPr>
        <p:spPr>
          <a:xfrm>
            <a:off x="9454896" y="3703320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move starts from a living trust state, not a fresh packet.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548640" y="470916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40" name="Text 33"/>
          <p:cNvSpPr/>
          <p:nvPr/>
        </p:nvSpPr>
        <p:spPr>
          <a:xfrm>
            <a:off x="822960" y="4901184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Wedge</a:t>
            </a:r>
            <a:endParaRPr lang="en-US" sz="1700" dirty="0"/>
          </a:p>
        </p:txBody>
      </p:sp>
      <p:sp>
        <p:nvSpPr>
          <p:cNvPr id="41" name="Text 34"/>
          <p:cNvSpPr/>
          <p:nvPr/>
        </p:nvSpPr>
        <p:spPr>
          <a:xfrm>
            <a:off x="822960" y="5285232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DC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clinician: free wallet, NPI-first identity, readiness, discovery.</a:t>
            </a:r>
            <a:endParaRPr lang="en-US" sz="1300" dirty="0"/>
          </a:p>
        </p:txBody>
      </p:sp>
      <p:sp>
        <p:nvSpPr>
          <p:cNvPr id="42" name="Shape 35"/>
          <p:cNvSpPr/>
          <p:nvPr/>
        </p:nvSpPr>
        <p:spPr>
          <a:xfrm>
            <a:off x="4389120" y="470916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43" name="Text 36"/>
          <p:cNvSpPr/>
          <p:nvPr/>
        </p:nvSpPr>
        <p:spPr>
          <a:xfrm>
            <a:off x="4663440" y="4901184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Payer</a:t>
            </a:r>
            <a:endParaRPr lang="en-US" sz="1700" dirty="0"/>
          </a:p>
        </p:txBody>
      </p:sp>
      <p:sp>
        <p:nvSpPr>
          <p:cNvPr id="44" name="Text 37"/>
          <p:cNvSpPr/>
          <p:nvPr/>
        </p:nvSpPr>
        <p:spPr>
          <a:xfrm>
            <a:off x="4663440" y="5285232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DC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pay when the wallet cuts recruiting waste, reviewer minutes, and ISV latency.</a:t>
            </a:r>
            <a:endParaRPr lang="en-US" sz="1300" dirty="0"/>
          </a:p>
        </p:txBody>
      </p:sp>
      <p:sp>
        <p:nvSpPr>
          <p:cNvPr id="45" name="Shape 38"/>
          <p:cNvSpPr/>
          <p:nvPr/>
        </p:nvSpPr>
        <p:spPr>
          <a:xfrm>
            <a:off x="8229600" y="4709160"/>
            <a:ext cx="3602736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/>
        </p:spPr>
      </p:sp>
      <p:sp>
        <p:nvSpPr>
          <p:cNvPr id="46" name="Text 39"/>
          <p:cNvSpPr/>
          <p:nvPr/>
        </p:nvSpPr>
        <p:spPr>
          <a:xfrm>
            <a:off x="8503920" y="4901184"/>
            <a:ext cx="3054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Moat</a:t>
            </a:r>
            <a:endParaRPr lang="en-US" sz="1700" dirty="0"/>
          </a:p>
        </p:txBody>
      </p:sp>
      <p:sp>
        <p:nvSpPr>
          <p:cNvPr id="47" name="Text 40"/>
          <p:cNvSpPr/>
          <p:nvPr/>
        </p:nvSpPr>
        <p:spPr>
          <a:xfrm>
            <a:off x="8503920" y="5285232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300" dirty="0">
                <a:solidFill>
                  <a:srgbClr val="DC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accepted proof pack strengthens a network of portable, monitored trust states.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wallet is a compounding career asset.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enter for career mobility. Employers pay for verified hiring throughput. The asset gets more valuable after every application, verification, acceptance, and job move — the clinician-side equivalent of a credit profile.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6928" y="28346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834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 </a:t>
            </a:r>
            <a:pPr indent="0" marL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clinician wallet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34015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34015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 </a:t>
            </a:r>
            <a:pPr indent="0" marL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opportunity graph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9684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968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96849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 </a:t>
            </a:r>
            <a:pPr indent="0" marL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VCV proof pack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5354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535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5354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 </a:t>
            </a:r>
            <a:pPr indent="0" marL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 up to 10x faster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" y="51023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5102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1023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 </a:t>
            </a:r>
            <a:pPr indent="0" marL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compounds value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66928" y="5669280"/>
            <a:ext cx="457200" cy="457200"/>
          </a:xfrm>
          <a:prstGeom prst="ellipse">
            <a:avLst/>
          </a:prstGeom>
          <a:solidFill>
            <a:srgbClr val="3E4CC0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5669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 </a:t>
            </a:r>
            <a:pPr indent="0" marL="0"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move begins ready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0" y="2331720"/>
            <a:ext cx="4297680" cy="4023360"/>
          </a:xfrm>
          <a:prstGeom prst="roundRect">
            <a:avLst>
              <a:gd name="adj" fmla="val 2045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2697480"/>
            <a:ext cx="731520" cy="73152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589520" y="3520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Compounding asset</a:t>
            </a:r>
            <a:endParaRPr lang="en-US" sz="2100" dirty="0"/>
          </a:p>
        </p:txBody>
      </p:sp>
      <p:sp>
        <p:nvSpPr>
          <p:cNvPr id="26" name="Text 23"/>
          <p:cNvSpPr/>
          <p:nvPr/>
        </p:nvSpPr>
        <p:spPr>
          <a:xfrm>
            <a:off x="7726680" y="40690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DC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reputation, evidence, and readiness — owned by the clinician, accepted by every employer, and refreshed automatically as licenses, sanctions, and enrollment change.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hired faster. Prove readiness once. Carry it everywhere.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602736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57984"/>
            <a:ext cx="603504" cy="603504"/>
          </a:xfrm>
          <a:prstGeom prst="ellipse">
            <a:avLst/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28600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88950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wallet first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1248" y="3346704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structured CV, store credential evidence, connect NPI identity, and see readiness gaps the moment they appear.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9120" y="1874520"/>
            <a:ext cx="3602736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81728" y="2157984"/>
            <a:ext cx="603504" cy="603504"/>
          </a:xfrm>
          <a:prstGeom prst="ellipse">
            <a:avLst/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28600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288950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MATCHA AI second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4681728" y="3346704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discovery tuned by specialty, geography, work model, licensure, intent, and eligibility.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29600" y="1874520"/>
            <a:ext cx="3602736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22208" y="2157984"/>
            <a:ext cx="603504" cy="603504"/>
          </a:xfrm>
          <a:prstGeom prst="ellipse">
            <a:avLst/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2860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22208" y="2889504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with VitalCV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522208" y="3346704"/>
            <a:ext cx="3035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trust passport with structured proof, source receipts, and readiness status — not another static PDF.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4663440"/>
            <a:ext cx="11091672" cy="1600200"/>
          </a:xfrm>
          <a:prstGeom prst="roundRect">
            <a:avLst>
              <a:gd name="adj" fmla="val 5143"/>
            </a:avLst>
          </a:prstGeom>
          <a:solidFill>
            <a:srgbClr val="1E2761"/>
          </a:solidFill>
          <a:ln/>
        </p:spPr>
      </p:sp>
      <p:sp>
        <p:nvSpPr>
          <p:cNvPr id="20" name="Text 15"/>
          <p:cNvSpPr/>
          <p:nvPr/>
        </p:nvSpPr>
        <p:spPr>
          <a:xfrm>
            <a:off x="1005840" y="4937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RÉSUMÉ SAYS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05840" y="52852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am qualified.”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4069080" y="4663440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Text 18"/>
          <p:cNvSpPr/>
          <p:nvPr/>
        </p:nvSpPr>
        <p:spPr>
          <a:xfrm>
            <a:off x="4700016" y="4937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VITALCV SAYS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700016" y="52852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“Here is the proof.”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7763256" y="4663440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6" name="Text 21"/>
          <p:cNvSpPr/>
          <p:nvPr/>
        </p:nvSpPr>
        <p:spPr>
          <a:xfrm>
            <a:off x="8394192" y="4937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THE EMPLOYER CAN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394192" y="528523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 faster.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EXPERIENCE · DISTRIBUTION WEDGE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screening from scratch. Inject trust into the ATS.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VitalCV embeds verified readiness into the existing recruiting workflow — it does not force an ATS replacement.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2788920"/>
          </a:xfrm>
          <a:prstGeom prst="roundRect">
            <a:avLst>
              <a:gd name="adj" fmla="val 2951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6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ATS profile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31912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5935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history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3995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68680" y="43982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follow-up — then wait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45352" y="2148840"/>
            <a:ext cx="5394960" cy="2788920"/>
          </a:xfrm>
          <a:prstGeom prst="roundRect">
            <a:avLst>
              <a:gd name="adj" fmla="val 2951"/>
            </a:avLst>
          </a:prstGeom>
          <a:solidFill>
            <a:srgbClr val="EEF1FC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73952" y="23317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4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VitalCV injection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807208"/>
            <a:ext cx="256032" cy="25603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766560" y="276148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Readiness Score</a:t>
            </a:r>
            <a:endParaRPr lang="en-US" sz="13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0954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766560" y="31638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receipts + issuer provenance</a:t>
            </a:r>
            <a:endParaRPr lang="en-US" sz="135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61188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35661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Exclusion / sanctions posture</a:t>
            </a:r>
            <a:endParaRPr lang="en-US" sz="13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014216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66560" y="39684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proof pack (SD-JWT)</a:t>
            </a:r>
            <a:endParaRPr lang="en-US" sz="13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416552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66560" y="43708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decision capsule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548640" y="5138928"/>
            <a:ext cx="11091672" cy="1170432"/>
          </a:xfrm>
          <a:prstGeom prst="roundRect">
            <a:avLst>
              <a:gd name="adj" fmla="val 7031"/>
            </a:avLst>
          </a:prstGeom>
          <a:solidFill>
            <a:srgbClr val="1E2761"/>
          </a:solidFill>
          <a:ln/>
        </p:spPr>
      </p:sp>
      <p:sp>
        <p:nvSpPr>
          <p:cNvPr id="25" name="Text 18"/>
          <p:cNvSpPr/>
          <p:nvPr/>
        </p:nvSpPr>
        <p:spPr>
          <a:xfrm>
            <a:off x="868680" y="52852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Embed, don't replace.  </a:t>
            </a:r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Interoperates natively with Workday, Greenhouse, iCIMS, and Lever. The clinician shares a trust passport that bypasses internal PSV bottlenecks.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868680" y="579729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does not wake up wanting blockchain. They want verified clinicians, fewer reviewer minutes, and faster starts.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MATCHA AI · AUTHORITY KNOWLEDGE GRAPH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on intent plus verified readiness.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platforms match résumés to jobs. VitalCV matches trust states to real operational requirements — better data, not “AI magic.”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60273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331720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Clinician signal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83464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Specialty, location, work model, compensation intent, schedule, mobility, career goals.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89120" y="2103120"/>
            <a:ext cx="360273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33172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2331720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readiness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663440" y="283464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identity, license posture, OIG/LEIE, PECOS signal, proof artifacts, source receipts.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229600" y="2103120"/>
            <a:ext cx="3602736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331720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06840" y="2331720"/>
            <a:ext cx="2642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 requirement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503920" y="2834640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scope, state, specialty, credentialing rules, start urgency, compliance thresholds.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48640" y="4069080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3E4CC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261104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06908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MATCHA  →  </a:t>
            </a:r>
            <a:pPr indent="0" marL="0">
              <a:buNone/>
            </a:pPr>
            <a:r>
              <a:rPr lang="en-US" sz="1450" dirty="0">
                <a:solidFill>
                  <a:srgbClr val="E8EC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opportunities + readiness gaps + a startability score, bound to the Authority Knowledge Graph.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548640" y="5029200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4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Living trust network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548640" y="5394960"/>
            <a:ext cx="3602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clinicians, issuers, and sanctions into a fully queryable topological network.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389120" y="5029200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4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Bidirectional intent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389120" y="5394960"/>
            <a:ext cx="3602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clinicians on verified hard qualifications and soft intent states.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229600" y="5029200"/>
            <a:ext cx="3602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4C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simulation engine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8229600" y="5394960"/>
            <a:ext cx="36027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compliance-rule changes or mass revocations to instantly project staffing gaps.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TRUST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AI orchestration turns raw credentials into decision-grade proof.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primary-source queries → evidence aggregation → confidence scoring. Source-backed, auditable, and fail-closed by design.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791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2057400"/>
            <a:ext cx="240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identity</a:t>
            </a:r>
            <a:endParaRPr lang="en-US" sz="13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(NPPES · live)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72968" y="20574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92424" y="2057400"/>
            <a:ext cx="26791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9584" y="2057400"/>
            <a:ext cx="240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risk</a:t>
            </a:r>
            <a:endParaRPr lang="en-US" sz="13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(OIG / LEIE · live)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016752" y="20574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36208" y="2057400"/>
            <a:ext cx="26791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73368" y="2057400"/>
            <a:ext cx="240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posture</a:t>
            </a:r>
            <a:endParaRPr lang="en-US" sz="13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(State board · live)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860536" y="2057400"/>
            <a:ext cx="274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079992" y="2057400"/>
            <a:ext cx="2679192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17152" y="2057400"/>
            <a:ext cx="2404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35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(PECOS · live)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30358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0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NPDB · Nursys · FSMB available behind institutional access (gated) — never claimed until live.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3602736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3675888"/>
            <a:ext cx="566928" cy="566928"/>
          </a:xfrm>
          <a:prstGeom prst="ellipse">
            <a:avLst/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3803904"/>
            <a:ext cx="310896" cy="310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22960" y="437083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22960" y="4846320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sources conflict or confidence drops below 0.90, execution pauses and routes to review — automation never pretends to be certainty.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389120" y="3429000"/>
            <a:ext cx="3602736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3675888"/>
            <a:ext cx="566928" cy="566928"/>
          </a:xfrm>
          <a:prstGeom prst="ellipse">
            <a:avLst/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3803904"/>
            <a:ext cx="310896" cy="31089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663440" y="437083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Capsule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4663440" y="4846320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accepted action creates a replayable audit: who cleared what, when, and from which sources — unassailable evidence for regulators.</a:t>
            </a:r>
            <a:endParaRPr lang="en-US" sz="1350" dirty="0"/>
          </a:p>
        </p:txBody>
      </p:sp>
      <p:sp>
        <p:nvSpPr>
          <p:cNvPr id="27" name="Shape 23"/>
          <p:cNvSpPr/>
          <p:nvPr/>
        </p:nvSpPr>
        <p:spPr>
          <a:xfrm>
            <a:off x="8229600" y="3429000"/>
            <a:ext cx="3602736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503920" y="3675888"/>
            <a:ext cx="566928" cy="566928"/>
          </a:xfrm>
          <a:prstGeom prst="ellipse">
            <a:avLst/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1936" y="3803904"/>
            <a:ext cx="310896" cy="31089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503920" y="4370832"/>
            <a:ext cx="3054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monitoring</a:t>
            </a:r>
            <a:endParaRPr lang="en-US" sz="1700" dirty="0"/>
          </a:p>
        </p:txBody>
      </p:sp>
      <p:sp>
        <p:nvSpPr>
          <p:cNvPr id="31" name="Text 26"/>
          <p:cNvSpPr/>
          <p:nvPr/>
        </p:nvSpPr>
        <p:spPr>
          <a:xfrm>
            <a:off x="8503920" y="4846320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is not static. Licenses, exclusions, and statuses change; the wallet stays alive and revocation fails closed across the network.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&amp; PRIVACY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Decentralized cryptographic edges — not a centralized honeypot.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4612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E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DATA WAREHOUSE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543800" y="17830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VITALCV INFRASTRUCTURE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108960" y="2148840"/>
            <a:ext cx="4160520" cy="713232"/>
          </a:xfrm>
          <a:prstGeom prst="roundRect">
            <a:avLst>
              <a:gd name="adj" fmla="val 8974"/>
            </a:avLst>
          </a:prstGeom>
          <a:solidFill>
            <a:srgbClr val="1C2348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21488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 warehouse (honeypot risk)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2148840"/>
            <a:ext cx="4187952" cy="713232"/>
          </a:xfrm>
          <a:prstGeom prst="roundRect">
            <a:avLst>
              <a:gd name="adj" fmla="val 8974"/>
            </a:avLst>
          </a:prstGeom>
          <a:solidFill>
            <a:srgbClr val="3E4CC0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2148840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cryptographic edge (SSI principles)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935224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108960" y="2935224"/>
            <a:ext cx="4160520" cy="713232"/>
          </a:xfrm>
          <a:prstGeom prst="roundRect">
            <a:avLst>
              <a:gd name="adj" fmla="val 8974"/>
            </a:avLst>
          </a:prstGeom>
          <a:solidFill>
            <a:srgbClr val="1C2348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2935224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&amp; decaying — manual re-verification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52360" y="2935224"/>
            <a:ext cx="4187952" cy="713232"/>
          </a:xfrm>
          <a:prstGeom prst="roundRect">
            <a:avLst>
              <a:gd name="adj" fmla="val 8974"/>
            </a:avLst>
          </a:prstGeom>
          <a:solidFill>
            <a:srgbClr val="3E4CC0"/>
          </a:solidFill>
          <a:ln/>
        </p:spPr>
      </p:sp>
      <p:sp>
        <p:nvSpPr>
          <p:cNvPr id="15" name="Text 13"/>
          <p:cNvSpPr/>
          <p:nvPr/>
        </p:nvSpPr>
        <p:spPr>
          <a:xfrm>
            <a:off x="7635240" y="2935224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— a living trust network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72160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108960" y="3721608"/>
            <a:ext cx="4160520" cy="713232"/>
          </a:xfrm>
          <a:prstGeom prst="roundRect">
            <a:avLst>
              <a:gd name="adj" fmla="val 8974"/>
            </a:avLst>
          </a:prstGeom>
          <a:solidFill>
            <a:srgbClr val="1C2348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3721608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PSV via clearinghouses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452360" y="3721608"/>
            <a:ext cx="4187952" cy="713232"/>
          </a:xfrm>
          <a:prstGeom prst="roundRect">
            <a:avLst>
              <a:gd name="adj" fmla="val 8974"/>
            </a:avLst>
          </a:prstGeom>
          <a:solidFill>
            <a:srgbClr val="3E4CC0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3721608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AI orchestration (parallel queries)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507992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3108960" y="4507992"/>
            <a:ext cx="4160520" cy="713232"/>
          </a:xfrm>
          <a:prstGeom prst="roundRect">
            <a:avLst>
              <a:gd name="adj" fmla="val 8974"/>
            </a:avLst>
          </a:prstGeom>
          <a:solidFill>
            <a:srgbClr val="1C2348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4507992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AE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Siloed, proprietary HR portals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452360" y="4507992"/>
            <a:ext cx="4187952" cy="713232"/>
          </a:xfrm>
          <a:prstGeom prst="roundRect">
            <a:avLst>
              <a:gd name="adj" fmla="val 8974"/>
            </a:avLst>
          </a:prstGeom>
          <a:solidFill>
            <a:srgbClr val="3E4CC0"/>
          </a:solidFill>
          <a:ln/>
        </p:spPr>
      </p:sp>
      <p:sp>
        <p:nvSpPr>
          <p:cNvPr id="25" name="Text 23"/>
          <p:cNvSpPr/>
          <p:nvPr/>
        </p:nvSpPr>
        <p:spPr>
          <a:xfrm>
            <a:off x="7635240" y="4507992"/>
            <a:ext cx="3886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identity passports linked to NPIs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486400"/>
            <a:ext cx="3602736" cy="1207008"/>
          </a:xfrm>
          <a:prstGeom prst="roundRect">
            <a:avLst>
              <a:gd name="adj" fmla="val 6061"/>
            </a:avLst>
          </a:prstGeom>
          <a:solidFill>
            <a:srgbClr val="161C40"/>
          </a:solidFill>
          <a:ln w="12700">
            <a:solidFill>
              <a:srgbClr val="2A3160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687568"/>
            <a:ext cx="329184" cy="32918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261872" y="566928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PII on-chain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04672" y="6053328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stays in an off-chain Postgres vault; only SHA-256 hashes, signed via Ed25519, are anchored to the Substrate ledger.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389120" y="5486400"/>
            <a:ext cx="3602736" cy="1207008"/>
          </a:xfrm>
          <a:prstGeom prst="roundRect">
            <a:avLst>
              <a:gd name="adj" fmla="val 6061"/>
            </a:avLst>
          </a:prstGeom>
          <a:solidFill>
            <a:srgbClr val="161C40"/>
          </a:solidFill>
          <a:ln w="12700">
            <a:solidFill>
              <a:srgbClr val="2A3160"/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152" y="5687568"/>
            <a:ext cx="329184" cy="329184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102352" y="566928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right-to-erasure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4645152" y="6053328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off-chain record renders the on-chain hash irreversible junk — satisfying erasure without breaking ledger integrity.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8229600" y="5486400"/>
            <a:ext cx="3602736" cy="1207008"/>
          </a:xfrm>
          <a:prstGeom prst="roundRect">
            <a:avLst>
              <a:gd name="adj" fmla="val 6061"/>
            </a:avLst>
          </a:prstGeom>
          <a:solidFill>
            <a:srgbClr val="161C40"/>
          </a:solidFill>
          <a:ln w="12700">
            <a:solidFill>
              <a:srgbClr val="2A3160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5687568"/>
            <a:ext cx="329184" cy="329184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8942832" y="5669280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Selective disclosure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8485632" y="6053328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SD-JWT lets a clinician reveal only the license to a verifier; the signature still validates the whole document.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Automating the NCQA credentialing lifecycle.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786384"/>
          </a:xfrm>
          <a:prstGeom prst="roundRect">
            <a:avLst>
              <a:gd name="adj" fmla="val 9302"/>
            </a:avLst>
          </a:prstGeom>
          <a:solidFill>
            <a:srgbClr val="FBEFE0"/>
          </a:solidFill>
          <a:ln w="12700">
            <a:solidFill>
              <a:srgbClr val="F0D5B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6479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54480"/>
            <a:ext cx="10058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B570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threat:  </a:t>
            </a:r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NCQA updates shortened the verification accreditation window from 180 days to 90 days. Manual workflows cannot survive this compression.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7040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6060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CR1 Identity (NPPES)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166360" y="2724912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1E9E6A">
              <a:alpha val="16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5166360" y="2724912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Nightly sync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3264408"/>
            <a:ext cx="7040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2644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CR5 Sanctions (OIG/LEIE)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5166360" y="3383280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1E9E6A">
              <a:alpha val="16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5166360" y="3383280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screen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3922776"/>
            <a:ext cx="7040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392277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CR2 License (State Board)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166360" y="4041648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1E9E6A">
              <a:alpha val="16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166360" y="404164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sync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4581144"/>
            <a:ext cx="7040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458114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CR5 Malpractice (NPDB · gated)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166360" y="4700016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3E4CC0">
              <a:alpha val="16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5166360" y="4700016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E4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(when live)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5239512"/>
            <a:ext cx="704088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" y="523951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CR4 Work History (Primary Source)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5166360" y="5358384"/>
            <a:ext cx="2240280" cy="329184"/>
          </a:xfrm>
          <a:prstGeom prst="roundRect">
            <a:avLst>
              <a:gd name="adj" fmla="val 50000"/>
            </a:avLst>
          </a:prstGeom>
          <a:solidFill>
            <a:srgbClr val="1E9E6A">
              <a:alpha val="16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5166360" y="5358384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+ HITL review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863840" y="2606040"/>
            <a:ext cx="3776472" cy="3611880"/>
          </a:xfrm>
          <a:prstGeom prst="roundRect">
            <a:avLst>
              <a:gd name="adj" fmla="val 2278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2880360"/>
            <a:ext cx="457200" cy="45720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8138160" y="3429000"/>
            <a:ext cx="3246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Staleness checks fire ahead of the deadline</a:t>
            </a:r>
            <a:endParaRPr lang="en-US" sz="1900" dirty="0"/>
          </a:p>
        </p:txBody>
      </p:sp>
      <p:sp>
        <p:nvSpPr>
          <p:cNvPr id="30" name="Text 26"/>
          <p:cNvSpPr/>
          <p:nvPr/>
        </p:nvSpPr>
        <p:spPr>
          <a:xfrm>
            <a:off x="8138160" y="4297680"/>
            <a:ext cx="3246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DC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Re-verification of licenses and sanctions triggers automatically — well before the 90-day accreditation limit — ensuring zero lapse in billing capability.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HIPAA-aligned · NCQA CR1–CR5 mapped · audit-ready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for clinicians. Paid by employers at the moment trust creates value.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wallet is the acquisition wedge; verified hiring throughput is the revenue engine.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602736" cy="2148840"/>
          </a:xfrm>
          <a:prstGeom prst="roundRect">
            <a:avLst>
              <a:gd name="adj" fmla="val 3830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395728"/>
            <a:ext cx="603504" cy="603504"/>
          </a:xfrm>
          <a:prstGeom prst="ellipse">
            <a:avLst/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52374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95728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Clinicians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41248" y="315468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CV Wallet + MATCHA discovery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1248" y="370332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wedge — drives supply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2148840"/>
            <a:ext cx="3602736" cy="2148840"/>
          </a:xfrm>
          <a:prstGeom prst="roundRect">
            <a:avLst>
              <a:gd name="adj" fmla="val 3830"/>
            </a:avLst>
          </a:prstGeom>
          <a:solidFill>
            <a:srgbClr val="1E2761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81728" y="2395728"/>
            <a:ext cx="603504" cy="603504"/>
          </a:xfrm>
          <a:prstGeom prst="ellipse">
            <a:avLst/>
          </a:prstGeom>
          <a:solidFill>
            <a:srgbClr val="3E4CC0"/>
          </a:solidFill>
          <a:ln w="12700">
            <a:solidFill>
              <a:srgbClr val="E3E7F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252374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2395728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Employers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4681728" y="315468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applicants + faster starts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681728" y="370332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DC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engine — pays at hiring moments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229600" y="2148840"/>
            <a:ext cx="3602736" cy="2148840"/>
          </a:xfrm>
          <a:prstGeom prst="roundRect">
            <a:avLst>
              <a:gd name="adj" fmla="val 3830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522208" y="2395728"/>
            <a:ext cx="603504" cy="603504"/>
          </a:xfrm>
          <a:prstGeom prst="ellipse">
            <a:avLst/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52374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81160" y="2395728"/>
            <a:ext cx="24140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8522208" y="3154680"/>
            <a:ext cx="3054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proof + monitoring graph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522208" y="370332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Compounding moat — value per move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48640" y="4526280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EEF1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68680" y="452628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4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options:  </a:t>
            </a:r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subscription  ·  per verified application  ·  proof-pack review fee  ·  success fee  ·  monitoring subscription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48640" y="5349240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26" name="Text 21"/>
          <p:cNvSpPr/>
          <p:nvPr/>
        </p:nvSpPr>
        <p:spPr>
          <a:xfrm>
            <a:off x="868680" y="534924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logic.  </a:t>
            </a:r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DC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delayed start costs a health system weeks of lost clinical capacity, a trusted readiness signal is not “software spend” — it is capacity insurance.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FRAME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another job board, ATS, or credentialing file cabinet.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durable position is accepted, source-backed proof that travels with the clinician and converts hiring faster.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73736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2286000" y="2103120"/>
            <a:ext cx="224028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21031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job boards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2103120"/>
            <a:ext cx="224028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10312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ATS / HRIS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766560" y="2103120"/>
            <a:ext cx="233172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210312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Credentialing software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98280" y="2103120"/>
            <a:ext cx="2542032" cy="566928"/>
          </a:xfrm>
          <a:prstGeom prst="rect">
            <a:avLst/>
          </a:prstGeom>
          <a:solidFill>
            <a:srgbClr val="3E4CC0"/>
          </a:solidFill>
          <a:ln/>
        </p:spPr>
      </p:sp>
      <p:sp>
        <p:nvSpPr>
          <p:cNvPr id="13" name="Text 11"/>
          <p:cNvSpPr/>
          <p:nvPr/>
        </p:nvSpPr>
        <p:spPr>
          <a:xfrm>
            <a:off x="9189720" y="2103120"/>
            <a:ext cx="2359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VitalCV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670048"/>
            <a:ext cx="1737360" cy="676656"/>
          </a:xfrm>
          <a:prstGeom prst="rect">
            <a:avLst/>
          </a:prstGeom>
          <a:solidFill>
            <a:srgbClr val="E8EBF5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670048"/>
            <a:ext cx="1536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job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286000" y="2670048"/>
            <a:ext cx="2240280" cy="676656"/>
          </a:xfrm>
          <a:prstGeom prst="rect">
            <a:avLst/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95728" y="2670048"/>
            <a:ext cx="2039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interest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26280" y="2670048"/>
            <a:ext cx="2240280" cy="676656"/>
          </a:xfrm>
          <a:prstGeom prst="rect">
            <a:avLst/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2670048"/>
            <a:ext cx="2039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workflow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66560" y="2670048"/>
            <a:ext cx="2331720" cy="676656"/>
          </a:xfrm>
          <a:prstGeom prst="rect">
            <a:avLst/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2670048"/>
            <a:ext cx="2130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task mgmt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098280" y="2670048"/>
            <a:ext cx="2542032" cy="676656"/>
          </a:xfrm>
          <a:prstGeom prst="rect">
            <a:avLst/>
          </a:prstGeom>
          <a:solidFill>
            <a:srgbClr val="E7EA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08008" y="2670048"/>
            <a:ext cx="2340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4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readiness + matching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3346704"/>
            <a:ext cx="1737360" cy="676656"/>
          </a:xfrm>
          <a:prstGeom prst="rect">
            <a:avLst/>
          </a:prstGeom>
          <a:solidFill>
            <a:srgbClr val="E8EBF5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346704"/>
            <a:ext cx="1536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2286000" y="3346704"/>
            <a:ext cx="2240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95728" y="3346704"/>
            <a:ext cx="2039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profiles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26280" y="3346704"/>
            <a:ext cx="2240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3346704"/>
            <a:ext cx="2039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records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766560" y="3346704"/>
            <a:ext cx="2331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76288" y="3346704"/>
            <a:ext cx="2130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Employer-specific packets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098280" y="3346704"/>
            <a:ext cx="2542032" cy="676656"/>
          </a:xfrm>
          <a:prstGeom prst="rect">
            <a:avLst/>
          </a:prstGeom>
          <a:solidFill>
            <a:srgbClr val="E7EA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08008" y="3346704"/>
            <a:ext cx="2340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4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Clinician-owned wallet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4023360"/>
            <a:ext cx="1737360" cy="676656"/>
          </a:xfrm>
          <a:prstGeom prst="rect">
            <a:avLst/>
          </a:prstGeom>
          <a:solidFill>
            <a:srgbClr val="E8EBF5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" y="4023360"/>
            <a:ext cx="1536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2286000" y="4023360"/>
            <a:ext cx="2240280" cy="676656"/>
          </a:xfrm>
          <a:prstGeom prst="rect">
            <a:avLst/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95728" y="4023360"/>
            <a:ext cx="2039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and wait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26280" y="4023360"/>
            <a:ext cx="2240280" cy="676656"/>
          </a:xfrm>
          <a:prstGeom prst="rect">
            <a:avLst/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36008" y="4023360"/>
            <a:ext cx="2039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and track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766560" y="4023360"/>
            <a:ext cx="2331720" cy="676656"/>
          </a:xfrm>
          <a:prstGeom prst="rect">
            <a:avLst/>
          </a:prstGeom>
          <a:solidFill>
            <a:srgbClr val="F7F8FC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288" y="4023360"/>
            <a:ext cx="2130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 and approve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9098280" y="4023360"/>
            <a:ext cx="2542032" cy="676656"/>
          </a:xfrm>
          <a:prstGeom prst="rect">
            <a:avLst/>
          </a:prstGeom>
          <a:solidFill>
            <a:srgbClr val="E7EA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208008" y="4023360"/>
            <a:ext cx="2340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4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with reusable proof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4700016"/>
            <a:ext cx="1737360" cy="676656"/>
          </a:xfrm>
          <a:prstGeom prst="rect">
            <a:avLst/>
          </a:prstGeom>
          <a:solidFill>
            <a:srgbClr val="E8EBF5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" y="4700016"/>
            <a:ext cx="1536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2286000" y="4700016"/>
            <a:ext cx="2240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95728" y="4700016"/>
            <a:ext cx="2039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4526280" y="4700016"/>
            <a:ext cx="22402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36008" y="4700016"/>
            <a:ext cx="20391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6766560" y="4700016"/>
            <a:ext cx="233172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76288" y="4700016"/>
            <a:ext cx="21305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software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9098280" y="4700016"/>
            <a:ext cx="2542032" cy="676656"/>
          </a:xfrm>
          <a:prstGeom prst="rect">
            <a:avLst/>
          </a:prstGeom>
          <a:solidFill>
            <a:srgbClr val="E7EA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08008" y="4700016"/>
            <a:ext cx="23408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3E4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network value</a:t>
            </a:r>
            <a:endParaRPr lang="en-US" sz="1250" dirty="0"/>
          </a:p>
        </p:txBody>
      </p:sp>
      <p:sp>
        <p:nvSpPr>
          <p:cNvPr id="54" name="Shape 52"/>
          <p:cNvSpPr/>
          <p:nvPr/>
        </p:nvSpPr>
        <p:spPr>
          <a:xfrm>
            <a:off x="548640" y="5806440"/>
            <a:ext cx="11091672" cy="640080"/>
          </a:xfrm>
          <a:prstGeom prst="roundRect">
            <a:avLst>
              <a:gd name="adj" fmla="val 12857"/>
            </a:avLst>
          </a:prstGeom>
          <a:solidFill>
            <a:srgbClr val="1E2761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direction:  </a:t>
            </a:r>
            <a:pPr indent="0" marL="0">
              <a:buNone/>
            </a:pPr>
            <a:r>
              <a:rPr lang="en-US" sz="1400" dirty="0">
                <a:solidFill>
                  <a:srgbClr val="DC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wallet → MATCHA graph → accepted proof packs → audit replay → continuous monitoring → credential liquidity.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· MILESTONES ·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2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the loop in one narrow pilot — not a giant platform build.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602736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3969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39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157984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0–30 days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08760" y="239572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Wallet MVP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85292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identity, structured CV, document upload, readiness checklist, proof-pack export.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920240"/>
            <a:ext cx="3602736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13969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139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49240" y="2157984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31–60 days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239572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MATCHA MVP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285292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matching by specialty, location, license, intent + readiness gaps; pilot workflow.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1920240"/>
            <a:ext cx="3602736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3E7F2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3D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0" y="2139696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503920" y="21396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89720" y="2157984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61–90 days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89720" y="2395728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 MVP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03920" y="2852928"/>
            <a:ext cx="30540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portal with proof pack, source receipts, CRS, decision capsule + before/after timing.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4069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4C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389120"/>
            <a:ext cx="3602736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452628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partners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04672" y="4882896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employers, medical groups, staffing partners, and clinician communities to test the wallet-to-review flow.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4389120"/>
            <a:ext cx="3602736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452628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capital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645152" y="4882896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build, source checks, audit evidence, security posture, and go-to-market learning.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29600" y="4389120"/>
            <a:ext cx="3602736" cy="1234440"/>
          </a:xfrm>
          <a:prstGeom prst="roundRect">
            <a:avLst>
              <a:gd name="adj" fmla="val 5926"/>
            </a:avLst>
          </a:prstGeom>
          <a:solidFill>
            <a:srgbClr val="F4F6FB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85632" y="4526280"/>
            <a:ext cx="3145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Founding talent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85632" y="4882896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engineer / AI-workflow builder / security-minded operator for wallet, matching, and proof-pack infrastructure.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80644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68680" y="580644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promise:  </a:t>
            </a:r>
            <a:pPr indent="0" marL="0">
              <a:buNone/>
            </a:pPr>
            <a:r>
              <a:rPr lang="en-US" sz="1350" dirty="0">
                <a:solidFill>
                  <a:srgbClr val="DCE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6–8 weeks, one clinician wallet matches an opportunity, applies with VitalCV, and hands an employer a reviewable, source-backed proof pack.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731520"/>
            <a:ext cx="2011680" cy="2011680"/>
          </a:xfrm>
          <a:prstGeom prst="ellipse">
            <a:avLst/>
          </a:prstGeom>
          <a:solidFill>
            <a:srgbClr val="3E4CC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STATE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170432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Credential liquidity for every clinician career move.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85800" y="25146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AE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Doctors, nurses, and APCs should never restart trust from zero every time they move. VitalCV is building the Visa network for clinician trust — doctors hold liquid trust assets; hospitals consume pre-verified truth.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361188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1C2348"/>
          </a:solidFill>
          <a:ln w="12700">
            <a:solidFill>
              <a:srgbClr val="3E4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611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502152" y="361188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1C2348"/>
          </a:solidFill>
          <a:ln w="12700">
            <a:solidFill>
              <a:srgbClr val="3E4C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02152" y="3611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18504" y="361188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1C2348"/>
          </a:solidFill>
          <a:ln w="12700">
            <a:solidFill>
              <a:srgbClr val="3E4C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18504" y="3611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Memory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134856" y="3611880"/>
            <a:ext cx="2651760" cy="640080"/>
          </a:xfrm>
          <a:prstGeom prst="roundRect">
            <a:avLst>
              <a:gd name="adj" fmla="val 14286"/>
            </a:avLst>
          </a:prstGeom>
          <a:solidFill>
            <a:srgbClr val="1C2348"/>
          </a:solidFill>
          <a:ln w="12700">
            <a:solidFill>
              <a:srgbClr val="3E4C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34856" y="3611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800" y="4297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      ↓        ↓        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566160" y="4736592"/>
            <a:ext cx="5029200" cy="713232"/>
          </a:xfrm>
          <a:prstGeom prst="roundRect">
            <a:avLst>
              <a:gd name="adj" fmla="val 12821"/>
            </a:avLst>
          </a:prstGeom>
          <a:solidFill>
            <a:srgbClr val="3E4CC0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4736592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Liquid Trust Asset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5800" y="571500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JOINS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598932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free wallet.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79976" y="571500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 PAYS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79976" y="598932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faster verified hiring.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74152" y="571500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6A7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COMPOUNDS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74152" y="598932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every accepted proof.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VitalCV — The Healthcare Hiring Throughput Engine</dc:title>
  <dc:subject>PptxGenJS Presentation</dc:subject>
  <dc:creator>VitalCV</dc:creator>
  <cp:lastModifiedBy>VitalCV</cp:lastModifiedBy>
  <cp:revision>1</cp:revision>
  <dcterms:created xsi:type="dcterms:W3CDTF">2026-06-25T18:37:33Z</dcterms:created>
  <dcterms:modified xsi:type="dcterms:W3CDTF">2026-06-25T18:37:33Z</dcterms:modified>
</cp:coreProperties>
</file>